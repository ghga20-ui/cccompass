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맑은 고딕"/>
              </a:rPr>
              <a:t>공통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896112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530"/>
                </a:solidFill>
                <a:latin typeface="맑은 고딕"/>
              </a:rPr>
              <a:t>희망 진로와 학과에서 거꾸로 확인합니다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261872"/>
            <a:ext cx="969264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D6776"/>
                </a:solidFill>
                <a:latin typeface="맑은 고딕"/>
              </a:rPr>
              <a:t>편한 과목보다 “왜 이 과목이 필요한가”를 먼저 묻는 상담으로 맞춰 주세요.</a:t>
            </a:r>
          </a:p>
        </p:txBody>
      </p:sp>
      <p:pic>
        <p:nvPicPr>
          <p:cNvPr id="6" name="Picture 5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84048"/>
            <a:ext cx="658368" cy="158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5440" y="6382512"/>
            <a:ext cx="22402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D6776"/>
                </a:solidFill>
                <a:latin typeface="맑은 고딕"/>
              </a:rPr>
              <a:t>효자고 수강신청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47088"/>
            <a:ext cx="10771632" cy="960120"/>
          </a:xfrm>
          <a:prstGeom prst="rect">
            <a:avLst/>
          </a:prstGeom>
          <a:solidFill>
            <a:srgbClr val="1E2530"/>
          </a:solidFill>
          <a:ln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39112"/>
            <a:ext cx="10195560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맑은 고딕"/>
              </a:rPr>
              <a:t>편한 과목이 아니라, 진로·학과에 맞는 과목 흐름을 보게 해 주세요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246120"/>
            <a:ext cx="33101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529584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21024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47288"/>
            <a:ext cx="2212848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530"/>
                </a:solidFill>
                <a:latin typeface="맑은 고딕"/>
              </a:rPr>
              <a:t>희망 진로/학과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22191"/>
            <a:ext cx="214884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D6776"/>
                </a:solidFill>
                <a:latin typeface="맑은 고딕"/>
              </a:rPr>
              <a:t>학생이 무엇을 배우고 싶은지 먼저 묻기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46120"/>
            <a:ext cx="33101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0288" y="3529584"/>
            <a:ext cx="502920" cy="50292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621024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447288"/>
            <a:ext cx="2212848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530"/>
                </a:solidFill>
                <a:latin typeface="맑은 고딕"/>
              </a:rPr>
              <a:t>필요 교과 흐름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822191"/>
            <a:ext cx="214884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D6776"/>
                </a:solidFill>
                <a:latin typeface="맑은 고딕"/>
              </a:rPr>
              <a:t>학과별 반영·권장 과목과 학교 개설 과목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7" y="3246120"/>
            <a:ext cx="33101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66175" y="3529584"/>
            <a:ext cx="502920" cy="50292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3621024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5" y="3447288"/>
            <a:ext cx="2212848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530"/>
                </a:solidFill>
                <a:latin typeface="맑은 고딕"/>
              </a:rPr>
              <a:t>선택 조합 점검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5" y="3822191"/>
            <a:ext cx="214884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D6776"/>
                </a:solidFill>
                <a:latin typeface="맑은 고딕"/>
              </a:rPr>
              <a:t>로드맵, 위계, 중복, 폐강 가능성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193792"/>
            <a:ext cx="10287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376672"/>
            <a:ext cx="9893808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766E"/>
                </a:solidFill>
                <a:latin typeface="맑은 고딕"/>
              </a:rPr>
              <a:t>상담 도구: https://hyoja-curriculum.vercel.app/  |  실제 신청: 고교학점제 수강신청 사이트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맑은 고딕"/>
              </a:rPr>
              <a:t>1학년 담임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896112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530"/>
                </a:solidFill>
                <a:latin typeface="맑은 고딕"/>
              </a:rPr>
              <a:t>고2 과목만 보지 말고 고3까지 한 번에 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261872"/>
            <a:ext cx="969264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D6776"/>
                </a:solidFill>
                <a:latin typeface="맑은 고딕"/>
              </a:rPr>
              <a:t>현재 고1은 고2·고3 선택과목을 하나의 로드맵으로 상담하는 것이 핵심입니다.</a:t>
            </a:r>
          </a:p>
        </p:txBody>
      </p:sp>
      <p:pic>
        <p:nvPicPr>
          <p:cNvPr id="6" name="Picture 5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84048"/>
            <a:ext cx="658368" cy="158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5440" y="6382512"/>
            <a:ext cx="22402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D6776"/>
                </a:solidFill>
                <a:latin typeface="맑은 고딕"/>
              </a:rPr>
              <a:t>효자고 수강신청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3063240" cy="36118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596896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1학년 상담의 한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596896" cy="14813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지금 고른 고2 과목이 고3 선택까지 이어지는지 확인해 주세요.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45152"/>
            <a:ext cx="25420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최종 전까지 큰 계열 방향은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47088"/>
            <a:ext cx="338328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011680"/>
            <a:ext cx="2980944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맑은 고딕"/>
              </a:rPr>
              <a:t>자연·공학·의약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286000"/>
            <a:ext cx="298094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530"/>
                </a:solidFill>
                <a:latin typeface="맑은 고딕"/>
              </a:rPr>
              <a:t>과학 + 수학 흐름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688336"/>
            <a:ext cx="2980944" cy="79552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50">
                <a:solidFill>
                  <a:srgbClr val="5D6776"/>
                </a:solidFill>
                <a:latin typeface="맑은 고딕"/>
              </a:defRPr>
            </a:pPr>
            <a:r>
              <a:t>과학 3과목 이상 선택 여부 점검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50">
                <a:solidFill>
                  <a:srgbClr val="5D6776"/>
                </a:solidFill>
                <a:latin typeface="맑은 고딕"/>
              </a:defRPr>
            </a:pPr>
            <a:r>
              <a:t>물화생지 중 이어질 과목 확인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50">
                <a:solidFill>
                  <a:srgbClr val="5D6776"/>
                </a:solidFill>
                <a:latin typeface="맑은 고딕"/>
              </a:defRPr>
            </a:pPr>
            <a:r>
              <a:t>기하·미적분Ⅱ 등 수학 선택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847088"/>
            <a:ext cx="338328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2011680"/>
            <a:ext cx="2980944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맑은 고딕"/>
              </a:rPr>
              <a:t>인문·사회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2286000"/>
            <a:ext cx="298094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530"/>
                </a:solidFill>
                <a:latin typeface="맑은 고딕"/>
              </a:rPr>
              <a:t>사회 과목 기반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688336"/>
            <a:ext cx="2980944" cy="79552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50">
                <a:solidFill>
                  <a:srgbClr val="5D6776"/>
                </a:solidFill>
                <a:latin typeface="맑은 고딕"/>
              </a:defRPr>
            </a:pPr>
            <a:r>
              <a:t>사회 2-3과목 이상을 진로와 연결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50">
                <a:solidFill>
                  <a:srgbClr val="5D6776"/>
                </a:solidFill>
                <a:latin typeface="맑은 고딕"/>
              </a:defRPr>
            </a:pPr>
            <a:r>
              <a:t>국어·영어도 학과 적합성 점검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50">
                <a:solidFill>
                  <a:srgbClr val="5D6776"/>
                </a:solidFill>
                <a:latin typeface="맑은 고딕"/>
              </a:defRPr>
            </a:pPr>
            <a:r>
              <a:t>진로가 불명확하면 계열부터 정리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4059936"/>
            <a:ext cx="7040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4242816"/>
            <a:ext cx="64922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E4638"/>
                </a:solidFill>
                <a:latin typeface="맑은 고딕"/>
              </a:rPr>
              <a:t>주의할 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572000"/>
            <a:ext cx="6446520" cy="51206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50">
                <a:solidFill>
                  <a:srgbClr val="5D6776"/>
                </a:solidFill>
                <a:latin typeface="맑은 고딕"/>
              </a:defRPr>
            </a:pPr>
            <a:r>
              <a:t>• 13명 이하 신청 과목은 폐강 가능성: 대안 과목도 함께 생각하게 하기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50">
                <a:solidFill>
                  <a:srgbClr val="5D6776"/>
                </a:solidFill>
                <a:latin typeface="맑은 고딕"/>
              </a:defRPr>
            </a:pPr>
            <a:r>
              <a:t>• 같은 과목을 선택해도 같은 학급으로 편성되는 것은 아님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742432"/>
            <a:ext cx="694944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766E"/>
                </a:solidFill>
                <a:latin typeface="맑은 고딕"/>
              </a:rPr>
              <a:t>핵심: “이번 선택”이 아니라 “2년짜리 과목 조합”으로 보게 하기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맑은 고딕"/>
              </a:rPr>
              <a:t>2학년 담임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896112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530"/>
                </a:solidFill>
                <a:latin typeface="맑은 고딕"/>
              </a:rPr>
              <a:t>이미 선택한 고2 과목과 고3 과목을 연결합니다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261872"/>
            <a:ext cx="969264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D6776"/>
                </a:solidFill>
                <a:latin typeface="맑은 고딕"/>
              </a:rPr>
              <a:t>현재 고2는 새로 고르는 것보다 “이어지는 선택인지”를 점검하는 상담이 중요합니다.</a:t>
            </a:r>
          </a:p>
        </p:txBody>
      </p:sp>
      <p:pic>
        <p:nvPicPr>
          <p:cNvPr id="6" name="Picture 5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84048"/>
            <a:ext cx="658368" cy="158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5440" y="6382512"/>
            <a:ext cx="22402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D6776"/>
                </a:solidFill>
                <a:latin typeface="맑은 고딕"/>
              </a:rPr>
              <a:t>효자고 수강신청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2926080" cy="40690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03120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2학년 상담의 한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61488"/>
            <a:ext cx="2487168" cy="1325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맑은 고딕"/>
              </a:rPr>
              <a:t>고2에서 들은 과목과 고3 선택이 이어지는지 먼저 봐 주세요.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736592"/>
            <a:ext cx="2423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중복·위계·대안 과목 점검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828800"/>
            <a:ext cx="914400" cy="40233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05656" y="1929384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물리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9472" y="2011680"/>
            <a:ext cx="109728" cy="27432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883664"/>
            <a:ext cx="5669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530"/>
                </a:solidFill>
                <a:latin typeface="맑은 고딕"/>
              </a:rPr>
              <a:t>물리학 → 역학과 에너지 → 전자기와 양자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2542032"/>
            <a:ext cx="914400" cy="402336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6" y="2642616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화학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19472" y="2724912"/>
            <a:ext cx="109728" cy="27432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2596896"/>
            <a:ext cx="5669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530"/>
                </a:solidFill>
                <a:latin typeface="맑은 고딕"/>
              </a:rPr>
              <a:t>화학 → 물질과 에너지 → 화학 반응의 세계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255264"/>
            <a:ext cx="914400" cy="402336"/>
          </a:xfrm>
          <a:prstGeom prst="roundRect">
            <a:avLst/>
          </a:prstGeom>
          <a:solidFill>
            <a:srgbClr val="BE4638"/>
          </a:solidFill>
          <a:ln>
            <a:solidFill>
              <a:srgbClr val="BE4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05656" y="3355848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생명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9472" y="3438144"/>
            <a:ext cx="109728" cy="27432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3310128"/>
            <a:ext cx="5669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530"/>
                </a:solidFill>
                <a:latin typeface="맑은 고딕"/>
              </a:rPr>
              <a:t>생명과학 → 세포와 물질대사 → 생물의 유전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3968496"/>
            <a:ext cx="914400" cy="402336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05656" y="4069080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지구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9472" y="4151376"/>
            <a:ext cx="109728" cy="27432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02352" y="4023359"/>
            <a:ext cx="5669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530"/>
                </a:solidFill>
                <a:latin typeface="맑은 고딕"/>
              </a:rPr>
              <a:t>지구과학 → 지구시스템과학 → 행성우주과학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4983480"/>
            <a:ext cx="7178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4528" y="5184648"/>
            <a:ext cx="66568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BE4638"/>
                </a:solidFill>
                <a:latin typeface="맑은 고딕"/>
              </a:rPr>
              <a:t>식품과 영양: 2학년에 수강한 학생은 고3에서 중복 수강 금지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5806440"/>
            <a:ext cx="7178040" cy="347472"/>
          </a:xfrm>
          <a:prstGeom prst="rect">
            <a:avLst/>
          </a:prstGeom>
          <a:solidFill>
            <a:srgbClr val="1E2530"/>
          </a:solidFill>
          <a:ln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87952" y="5897880"/>
            <a:ext cx="674827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마무리: 진로·학과 → 필요한 과목 흐름 → 현재 선택표 순서로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2026학년도 수강신청 담임교사 회의 안내</dc:title>
  <dc:subject>1, 2학년 선택과목 수강신청 상담 안내</dc:subject>
  <dc:creator>효자고등학교</dc:creator>
  <cp:keywords>수강신청, 선택과목, 담임교사, 교육과정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